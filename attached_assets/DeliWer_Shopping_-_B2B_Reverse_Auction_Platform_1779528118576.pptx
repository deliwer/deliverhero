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59486"/>
            <a:ext cx="800100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600" b="1" spc="-1" kern="0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DeliWer Shopping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71500" y="2250979"/>
            <a:ext cx="8001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Reverse Auction Platform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1500" y="2762455"/>
            <a:ext cx="80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spc="2" kern="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TRANSPARENCY • EFFICIENCY • INNOVATION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571500" y="3262517"/>
            <a:ext cx="1968243" cy="321469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3262517"/>
            <a:ext cx="1968243" cy="32146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ctr">
            <a:spAutoFit/>
          </a:bodyPr>
          <a:lstStyle/>
          <a:p>
            <a:pPr indent="0" marL="0">
              <a:buNone/>
            </a:pPr>
            <a:r>
              <a:rPr lang="en-US" sz="732" b="1" spc="1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📍 Dubai Airport Freezone</a:t>
            </a:r>
            <a:endParaRPr lang="en-US" sz="732" dirty="0"/>
          </a:p>
        </p:txBody>
      </p:sp>
      <p:sp>
        <p:nvSpPr>
          <p:cNvPr id="8" name="Shape 5"/>
          <p:cNvSpPr/>
          <p:nvPr/>
        </p:nvSpPr>
        <p:spPr>
          <a:xfrm>
            <a:off x="6643688" y="1500188"/>
            <a:ext cx="2143125" cy="2143125"/>
          </a:xfrm>
          <a:prstGeom prst="ellipse">
            <a:avLst/>
          </a:prstGeom>
          <a:solidFill>
            <a:srgbClr val="003366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43688" y="1500188"/>
            <a:ext cx="1428750" cy="142875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358063" y="2714625"/>
            <a:ext cx="1071563" cy="1071563"/>
          </a:xfrm>
          <a:prstGeom prst="ellipse">
            <a:avLst/>
          </a:prstGeom>
          <a:solidFill>
            <a:srgbClr val="0099CC">
              <a:alpha val="1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340304"/>
            <a:ext cx="280035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Market Problem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3800475" y="782241"/>
            <a:ext cx="4772025" cy="571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3800475" y="782241"/>
            <a:ext cx="28575" cy="571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3907631" y="889397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00538" y="889397"/>
            <a:ext cx="41648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Opaque Pricing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4300538" y="1096566"/>
            <a:ext cx="41648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Identical smartphone models quoted at vastly different rates without justification</a:t>
            </a:r>
            <a:endParaRPr lang="en-US" sz="732" dirty="0"/>
          </a:p>
        </p:txBody>
      </p:sp>
      <p:sp>
        <p:nvSpPr>
          <p:cNvPr id="9" name="Shape 6"/>
          <p:cNvSpPr/>
          <p:nvPr/>
        </p:nvSpPr>
        <p:spPr>
          <a:xfrm>
            <a:off x="3800475" y="1496616"/>
            <a:ext cx="4772025" cy="7215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3800475" y="1496616"/>
            <a:ext cx="28575" cy="7215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3907631" y="1603772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00538" y="1603772"/>
            <a:ext cx="41648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Unreliable Suppliers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4300538" y="1810941"/>
            <a:ext cx="41648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verified, centralized platform to differentiate between reputable and opportunistic vendors</a:t>
            </a:r>
            <a:endParaRPr lang="en-US" sz="732" dirty="0"/>
          </a:p>
        </p:txBody>
      </p:sp>
      <p:sp>
        <p:nvSpPr>
          <p:cNvPr id="14" name="Shape 11"/>
          <p:cNvSpPr/>
          <p:nvPr/>
        </p:nvSpPr>
        <p:spPr>
          <a:xfrm>
            <a:off x="3800475" y="2361009"/>
            <a:ext cx="4772025" cy="571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2"/>
          <p:cNvSpPr/>
          <p:nvPr/>
        </p:nvSpPr>
        <p:spPr>
          <a:xfrm>
            <a:off x="3800475" y="2361009"/>
            <a:ext cx="28575" cy="571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3907631" y="2468166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300538" y="2468166"/>
            <a:ext cx="41648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Risk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4300538" y="2675334"/>
            <a:ext cx="41648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delays and increased risk for buyers without transparency</a:t>
            </a:r>
            <a:endParaRPr lang="en-US" sz="732" dirty="0"/>
          </a:p>
        </p:txBody>
      </p:sp>
      <p:sp>
        <p:nvSpPr>
          <p:cNvPr id="19" name="Shape 16"/>
          <p:cNvSpPr/>
          <p:nvPr/>
        </p:nvSpPr>
        <p:spPr>
          <a:xfrm>
            <a:off x="3800475" y="3075384"/>
            <a:ext cx="4772025" cy="571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7"/>
          <p:cNvSpPr/>
          <p:nvPr/>
        </p:nvSpPr>
        <p:spPr>
          <a:xfrm>
            <a:off x="3800475" y="3075384"/>
            <a:ext cx="28575" cy="571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3907631" y="3182541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300538" y="3182541"/>
            <a:ext cx="41648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Price Competition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4300538" y="3389709"/>
            <a:ext cx="41648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live shopping models offer no real-time bidding or incentives for bulk orders</a:t>
            </a:r>
            <a:endParaRPr lang="en-US" sz="732" dirty="0"/>
          </a:p>
        </p:txBody>
      </p:sp>
      <p:sp>
        <p:nvSpPr>
          <p:cNvPr id="24" name="Shape 21"/>
          <p:cNvSpPr/>
          <p:nvPr/>
        </p:nvSpPr>
        <p:spPr>
          <a:xfrm>
            <a:off x="3800475" y="3789759"/>
            <a:ext cx="4772025" cy="571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2"/>
          <p:cNvSpPr/>
          <p:nvPr/>
        </p:nvSpPr>
        <p:spPr>
          <a:xfrm>
            <a:off x="3800475" y="3789759"/>
            <a:ext cx="28575" cy="571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3907631" y="3896916"/>
            <a:ext cx="285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300538" y="3896916"/>
            <a:ext cx="41648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 Buyer Engagement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4300538" y="4104084"/>
            <a:ext cx="41648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Limited supply-side accountability and weak incentives for platform participation</a:t>
            </a:r>
            <a:endParaRPr lang="en-US" sz="7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Reverse Auction Marketplace Empowers Buyers with Real Market Leverage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303734" y="1559458"/>
            <a:ext cx="428625" cy="42862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1303734" y="1559458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1189295" y="2095240"/>
            <a:ext cx="6574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Buyer Posts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571500" y="2338127"/>
            <a:ext cx="18930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Detailed requirements (models, grades, quantities)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1432322" y="2981065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39703" y="1559458"/>
            <a:ext cx="428625" cy="42862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3339703" y="1559458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3190242" y="2095240"/>
            <a:ext cx="7275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Suppliers Bid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2607469" y="2338127"/>
            <a:ext cx="18930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Verified vendors compete in real-time for best price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3468291" y="2981065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375672" y="1559458"/>
            <a:ext cx="428625" cy="42862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5375672" y="1559458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5168029" y="2095240"/>
            <a:ext cx="8438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Inspection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4643438" y="2338127"/>
            <a:ext cx="18930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Transparent video/chat validation before invoicing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5504259" y="2981065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411641" y="1795202"/>
            <a:ext cx="428625" cy="42862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7411641" y="1795202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7300354" y="2330983"/>
            <a:ext cx="6511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6693164" y="2573871"/>
            <a:ext cx="186555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 fulfillment and payment processing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571500" y="3943350"/>
            <a:ext cx="2571750" cy="771525"/>
          </a:xfrm>
          <a:prstGeom prst="rect">
            <a:avLst/>
          </a:prstGeom>
          <a:solidFill>
            <a:srgbClr val="F8F9FA"/>
          </a:solidFill>
          <a:ln w="298">
            <a:solidFill>
              <a:srgbClr val="0099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4375" y="4086225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📦 Spot Orders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714375" y="4293394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Ready-to-ship inventory from monthly warehouse stock for immediate fulfillment</a:t>
            </a:r>
            <a:endParaRPr lang="en-US" sz="628" dirty="0"/>
          </a:p>
        </p:txBody>
      </p:sp>
      <p:sp>
        <p:nvSpPr>
          <p:cNvPr id="26" name="Shape 23"/>
          <p:cNvSpPr/>
          <p:nvPr/>
        </p:nvSpPr>
        <p:spPr>
          <a:xfrm>
            <a:off x="3286125" y="3943350"/>
            <a:ext cx="2571750" cy="771525"/>
          </a:xfrm>
          <a:prstGeom prst="rect">
            <a:avLst/>
          </a:prstGeom>
          <a:solidFill>
            <a:srgbClr val="F8F9FA"/>
          </a:solidFill>
          <a:ln w="298">
            <a:solidFill>
              <a:srgbClr val="0099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4086225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 Concierge Services</a:t>
            </a:r>
            <a:endParaRPr lang="en-US" sz="732" dirty="0"/>
          </a:p>
        </p:txBody>
      </p:sp>
      <p:sp>
        <p:nvSpPr>
          <p:cNvPr id="28" name="Text 25"/>
          <p:cNvSpPr/>
          <p:nvPr/>
        </p:nvSpPr>
        <p:spPr>
          <a:xfrm>
            <a:off x="3429000" y="4293394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Subscription-based sourcing support for streamlined procurement workflows</a:t>
            </a:r>
            <a:endParaRPr lang="en-US" sz="628" dirty="0"/>
          </a:p>
        </p:txBody>
      </p:sp>
      <p:sp>
        <p:nvSpPr>
          <p:cNvPr id="29" name="Shape 26"/>
          <p:cNvSpPr/>
          <p:nvPr/>
        </p:nvSpPr>
        <p:spPr>
          <a:xfrm>
            <a:off x="6000750" y="3943350"/>
            <a:ext cx="2571750" cy="771525"/>
          </a:xfrm>
          <a:prstGeom prst="rect">
            <a:avLst/>
          </a:prstGeom>
          <a:solidFill>
            <a:srgbClr val="F8F9FA"/>
          </a:solidFill>
          <a:ln w="298">
            <a:solidFill>
              <a:srgbClr val="0099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43625" y="4107656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Verified Suppliers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6143625" y="4314825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Curated network of trusted vendors with transparent track records</a:t>
            </a:r>
            <a:endParaRPr lang="en-US" sz="62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Dubai Airport Freezone Provides Unmatched Logistics and Trade Connectivity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948793"/>
            <a:ext cx="3786188" cy="6286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948793"/>
            <a:ext cx="28575" cy="6286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2091668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93031" y="2188108"/>
            <a:ext cx="24602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World's Busiest Airport by International Passengers</a:t>
            </a:r>
            <a:endParaRPr lang="en-US" sz="732" dirty="0"/>
          </a:p>
        </p:txBody>
      </p:sp>
      <p:sp>
        <p:nvSpPr>
          <p:cNvPr id="8" name="Shape 5"/>
          <p:cNvSpPr/>
          <p:nvPr/>
        </p:nvSpPr>
        <p:spPr>
          <a:xfrm>
            <a:off x="571500" y="2720318"/>
            <a:ext cx="3786188" cy="6286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720318"/>
            <a:ext cx="28575" cy="6286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863193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55%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93031" y="2959633"/>
            <a:ext cx="251923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 DAFZ Trade in Machinery &amp; Electronics Equipment</a:t>
            </a:r>
            <a:endParaRPr lang="en-US" sz="732" dirty="0"/>
          </a:p>
        </p:txBody>
      </p:sp>
      <p:sp>
        <p:nvSpPr>
          <p:cNvPr id="12" name="Shape 9"/>
          <p:cNvSpPr/>
          <p:nvPr/>
        </p:nvSpPr>
        <p:spPr>
          <a:xfrm>
            <a:off x="571500" y="3491843"/>
            <a:ext cx="3786188" cy="62865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491843"/>
            <a:ext cx="28575" cy="6286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3634718"/>
            <a:ext cx="1125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AED 90.4B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946951" y="3731158"/>
            <a:ext cx="16776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Electronics Trade Value (2019)</a:t>
            </a:r>
            <a:endParaRPr lang="en-US" sz="732" dirty="0"/>
          </a:p>
        </p:txBody>
      </p:sp>
      <p:sp>
        <p:nvSpPr>
          <p:cNvPr id="16" name="Text 13"/>
          <p:cNvSpPr/>
          <p:nvPr/>
        </p:nvSpPr>
        <p:spPr>
          <a:xfrm>
            <a:off x="4786313" y="1920218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🌏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107781" y="1905930"/>
            <a:ext cx="34647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Asia Connectivity</a:t>
            </a:r>
            <a:endParaRPr lang="en-US" sz="785" dirty="0"/>
          </a:p>
        </p:txBody>
      </p:sp>
      <p:sp>
        <p:nvSpPr>
          <p:cNvPr id="18" name="Text 15"/>
          <p:cNvSpPr/>
          <p:nvPr/>
        </p:nvSpPr>
        <p:spPr>
          <a:xfrm>
            <a:off x="5107781" y="2095240"/>
            <a:ext cx="346471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 routes to India, China, and Southeast Asia - the world's largest electronics manufacturing hubs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4786313" y="2516721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🌍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107781" y="2502433"/>
            <a:ext cx="34647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MENA Gateway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5107781" y="2691743"/>
            <a:ext cx="346471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hub for Middle East and North Africa with major re-export routes to Iraq and regional markets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4786313" y="3113224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✈️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107781" y="3098936"/>
            <a:ext cx="34647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 Market Access</a:t>
            </a:r>
            <a:endParaRPr lang="en-US" sz="785" dirty="0"/>
          </a:p>
        </p:txBody>
      </p:sp>
      <p:sp>
        <p:nvSpPr>
          <p:cNvPr id="24" name="Text 21"/>
          <p:cNvSpPr/>
          <p:nvPr/>
        </p:nvSpPr>
        <p:spPr>
          <a:xfrm>
            <a:off x="5107781" y="3288246"/>
            <a:ext cx="346471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Streamlined logistics routes connecting to North American markets and distribution centers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4786313" y="3709727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⚖️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107781" y="3695440"/>
            <a:ext cx="34647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Regulatory Benefits</a:t>
            </a:r>
            <a:endParaRPr lang="en-US" sz="785" dirty="0"/>
          </a:p>
        </p:txBody>
      </p:sp>
      <p:sp>
        <p:nvSpPr>
          <p:cNvPr id="27" name="Text 24"/>
          <p:cNvSpPr/>
          <p:nvPr/>
        </p:nvSpPr>
        <p:spPr>
          <a:xfrm>
            <a:off x="5107781" y="3884749"/>
            <a:ext cx="346471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 foreign ownership, zero corporate tax until 2071, minimal regulatory burden for business operations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577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Multi-Channel Monetization Designed for Sustainable Scale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034393"/>
            <a:ext cx="3893344" cy="1654448"/>
          </a:xfrm>
          <a:prstGeom prst="rect">
            <a:avLst/>
          </a:prstGeom>
          <a:solidFill>
            <a:srgbClr val="F8F9FA"/>
          </a:solidFill>
          <a:ln w="397">
            <a:solidFill>
              <a:srgbClr val="FF6B3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094" y="1212986"/>
            <a:ext cx="35361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0094" y="1641611"/>
            <a:ext cx="35361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Per-Device Fee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750094" y="1905930"/>
            <a:ext cx="3536156" cy="3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Charged for each device sourced through reverse auctions or spot orders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750094" y="2338797"/>
            <a:ext cx="3536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$5 per device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4679156" y="1034393"/>
            <a:ext cx="3893344" cy="1654448"/>
          </a:xfrm>
          <a:prstGeom prst="rect">
            <a:avLst/>
          </a:prstGeom>
          <a:solidFill>
            <a:srgbClr val="F8F9FA"/>
          </a:solidFill>
          <a:ln w="397">
            <a:solidFill>
              <a:srgbClr val="0099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57750" y="1212986"/>
            <a:ext cx="35361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📅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57750" y="1641611"/>
            <a:ext cx="35361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Subscription Tiers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857750" y="1905930"/>
            <a:ext cx="3536156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subscriptions for regular B2B buyers with sourcing concierge and premium auction access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4857750" y="2310222"/>
            <a:ext cx="3536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Starting at $49/month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571500" y="2874578"/>
            <a:ext cx="3893344" cy="1654448"/>
          </a:xfrm>
          <a:prstGeom prst="rect">
            <a:avLst/>
          </a:prstGeom>
          <a:solidFill>
            <a:srgbClr val="F8F9FA"/>
          </a:solidFill>
          <a:ln w="397">
            <a:solidFill>
              <a:srgbClr val="0099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0094" y="3053172"/>
            <a:ext cx="35361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⭐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50094" y="3481797"/>
            <a:ext cx="35361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Supplier Visibility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750094" y="3746116"/>
            <a:ext cx="3536156" cy="325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Featured listing slots for verified vendors seeking enhanced reach and deal velocity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750094" y="4178982"/>
            <a:ext cx="3536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positioning</a:t>
            </a:r>
            <a:endParaRPr lang="en-US" sz="837" dirty="0"/>
          </a:p>
        </p:txBody>
      </p:sp>
      <p:sp>
        <p:nvSpPr>
          <p:cNvPr id="19" name="Shape 16"/>
          <p:cNvSpPr/>
          <p:nvPr/>
        </p:nvSpPr>
        <p:spPr>
          <a:xfrm>
            <a:off x="4679156" y="2874578"/>
            <a:ext cx="3893344" cy="1654448"/>
          </a:xfrm>
          <a:prstGeom prst="rect">
            <a:avLst/>
          </a:prstGeom>
          <a:solidFill>
            <a:srgbClr val="F8F9FA"/>
          </a:solidFill>
          <a:ln w="397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0" y="3053172"/>
            <a:ext cx="35361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🔗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857750" y="3481797"/>
            <a:ext cx="35361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Affiliate Program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857750" y="3746116"/>
            <a:ext cx="3536156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Performance-driven ecosystem enabling remote resellers and Shopify sellers to earn through referrals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4857750" y="4150407"/>
            <a:ext cx="3536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sharing model</a:t>
            </a:r>
            <a:endParaRPr lang="en-US" sz="837" dirty="0"/>
          </a:p>
        </p:txBody>
      </p:sp>
      <p:sp>
        <p:nvSpPr>
          <p:cNvPr id="24" name="Shape 21"/>
          <p:cNvSpPr/>
          <p:nvPr/>
        </p:nvSpPr>
        <p:spPr>
          <a:xfrm>
            <a:off x="571500" y="4714763"/>
            <a:ext cx="8001000" cy="557213"/>
          </a:xfrm>
          <a:prstGeom prst="rect">
            <a:avLst/>
          </a:prstGeom>
          <a:solidFill>
            <a:srgbClr val="F8F9FA"/>
          </a:solidFill>
          <a:ln w="198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0094" y="4911217"/>
            <a:ext cx="15232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1 Revenue Projection (Q4):</a:t>
            </a:r>
            <a:endParaRPr lang="en-US" sz="732" dirty="0"/>
          </a:p>
        </p:txBody>
      </p:sp>
      <p:sp>
        <p:nvSpPr>
          <p:cNvPr id="26" name="Text 23"/>
          <p:cNvSpPr/>
          <p:nvPr/>
        </p:nvSpPr>
        <p:spPr>
          <a:xfrm>
            <a:off x="4068589" y="4857638"/>
            <a:ext cx="73536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$100,000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599234" y="4911217"/>
            <a:ext cx="17946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 1,000 buyers and 20,000 devices</a:t>
            </a:r>
            <a:endParaRPr lang="en-US" sz="7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Grassroots Launch Targeting MENA Resellers with Rapid Scaling Potential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35441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35441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🎁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942975" y="1411560"/>
            <a:ext cx="9255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30-Day Free Trial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571500" y="1668735"/>
            <a:ext cx="3893344" cy="320018"/>
          </a:xfrm>
          <a:prstGeom prst="rect">
            <a:avLst/>
          </a:prstGeom>
          <a:noFill/>
          <a:ln/>
        </p:spPr>
        <p:txBody>
          <a:bodyPr wrap="square" lIns="442214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Onboard 500+ MENA-based online resellers with full access to sourcing concierge and premium auction features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571500" y="2103053"/>
            <a:ext cx="3893344" cy="139303"/>
          </a:xfrm>
          <a:prstGeom prst="rect">
            <a:avLst/>
          </a:prstGeom>
          <a:noFill/>
          <a:ln/>
        </p:spPr>
        <p:txBody>
          <a:bodyPr wrap="none" lIns="442214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Target: 500+ early adopters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4679156" y="135441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679156" y="135441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💬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5050631" y="1411560"/>
            <a:ext cx="1488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Direct WhatsApp Outreach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4679156" y="1668735"/>
            <a:ext cx="3893344" cy="320018"/>
          </a:xfrm>
          <a:prstGeom prst="rect">
            <a:avLst/>
          </a:prstGeom>
          <a:noFill/>
          <a:ln/>
        </p:spPr>
        <p:txBody>
          <a:bodyPr wrap="square" lIns="442214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Peer-based messaging campaign reaching 20+ targeted wholesale groups to generate trust and virality</a:t>
            </a:r>
            <a:endParaRPr lang="en-US" sz="732" dirty="0"/>
          </a:p>
        </p:txBody>
      </p:sp>
      <p:sp>
        <p:nvSpPr>
          <p:cNvPr id="13" name="Text 10"/>
          <p:cNvSpPr/>
          <p:nvPr/>
        </p:nvSpPr>
        <p:spPr>
          <a:xfrm>
            <a:off x="4679156" y="2103053"/>
            <a:ext cx="3893344" cy="139303"/>
          </a:xfrm>
          <a:prstGeom prst="rect">
            <a:avLst/>
          </a:prstGeom>
          <a:noFill/>
          <a:ln/>
        </p:spPr>
        <p:txBody>
          <a:bodyPr wrap="none" lIns="442214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Focus: Reseller communities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571500" y="2760334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276033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🤝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942975" y="2817484"/>
            <a:ext cx="8509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Affiliate Engine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571500" y="3074659"/>
            <a:ext cx="3893344" cy="320018"/>
          </a:xfrm>
          <a:prstGeom prst="rect">
            <a:avLst/>
          </a:prstGeom>
          <a:noFill/>
          <a:ln/>
        </p:spPr>
        <p:txBody>
          <a:bodyPr wrap="square" lIns="442214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Empower resellers to drive growth by earning through referrals and social content sharing</a:t>
            </a:r>
            <a:endParaRPr lang="en-US" sz="732" dirty="0"/>
          </a:p>
        </p:txBody>
      </p:sp>
      <p:sp>
        <p:nvSpPr>
          <p:cNvPr id="18" name="Text 15"/>
          <p:cNvSpPr/>
          <p:nvPr/>
        </p:nvSpPr>
        <p:spPr>
          <a:xfrm>
            <a:off x="571500" y="3508977"/>
            <a:ext cx="3893344" cy="139303"/>
          </a:xfrm>
          <a:prstGeom prst="rect">
            <a:avLst/>
          </a:prstGeom>
          <a:noFill/>
          <a:ln/>
        </p:spPr>
        <p:txBody>
          <a:bodyPr wrap="none" lIns="442214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Incentive: Performance-driven rewards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4679156" y="2760334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4679156" y="276033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5050631" y="2817484"/>
            <a:ext cx="13866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Verified Buyer Campaign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4679156" y="3074659"/>
            <a:ext cx="3893344" cy="320018"/>
          </a:xfrm>
          <a:prstGeom prst="rect">
            <a:avLst/>
          </a:prstGeom>
          <a:noFill/>
          <a:ln/>
        </p:spPr>
        <p:txBody>
          <a:bodyPr wrap="square" lIns="442214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Spotlight trusted users in DAFZ to build marketplace credibility and establish social proof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4679156" y="3508977"/>
            <a:ext cx="3893344" cy="139303"/>
          </a:xfrm>
          <a:prstGeom prst="rect">
            <a:avLst/>
          </a:prstGeom>
          <a:noFill/>
          <a:ln/>
        </p:spPr>
        <p:txBody>
          <a:bodyPr wrap="none" lIns="442214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Location: Dubai Airport Freezone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571500" y="4405573"/>
            <a:ext cx="8450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 Strategy: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1416527" y="4405573"/>
            <a:ext cx="58450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Lean, grassroots approach focusing on early adopter communities with high conversion potential, leveraging peer networks </a:t>
            </a:r>
            <a:endParaRPr lang="en-US" sz="732" dirty="0"/>
          </a:p>
        </p:txBody>
      </p:sp>
      <p:sp>
        <p:nvSpPr>
          <p:cNvPr id="26" name="Text 23"/>
          <p:cNvSpPr/>
          <p:nvPr/>
        </p:nvSpPr>
        <p:spPr>
          <a:xfrm>
            <a:off x="571500" y="4565582"/>
            <a:ext cx="36568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incentive structures to drive rapid platform adoption and network effects. 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7386638" y="4458426"/>
            <a:ext cx="10429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Quick to Market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DeliWer Combines Technological Innovation with Sustainability Leadership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390129"/>
            <a:ext cx="3893344" cy="93225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0129"/>
            <a:ext cx="35719" cy="93225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533004"/>
            <a:ext cx="357188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14438" y="1533004"/>
            <a:ext cx="31075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Real-Time Reverse Auction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1214438" y="1761604"/>
            <a:ext cx="310753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to apply real-time reverse auction system to refurbished electronics, giving buyers unprecedented price transparency and competition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4679156" y="1390129"/>
            <a:ext cx="3893344" cy="93225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79156" y="1390129"/>
            <a:ext cx="35719" cy="932259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11" name="Text 8"/>
          <p:cNvSpPr/>
          <p:nvPr/>
        </p:nvSpPr>
        <p:spPr>
          <a:xfrm>
            <a:off x="4822031" y="1533004"/>
            <a:ext cx="357188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🤖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22094" y="1533004"/>
            <a:ext cx="31075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Supplier Matching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5322094" y="1761604"/>
            <a:ext cx="31075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Intelligent shopping agent matches buyer needs with verified suppliers and enables smart live inspections for transaction assurance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571500" y="2536701"/>
            <a:ext cx="3893344" cy="7929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2536701"/>
            <a:ext cx="35719" cy="7929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2679576"/>
            <a:ext cx="357188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14438" y="2679576"/>
            <a:ext cx="31075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Live Inspections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1214438" y="2908176"/>
            <a:ext cx="31075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video and chat-based inspection process adds critical assurance layer for high-volume, high-value B2B transactions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4679156" y="2536701"/>
            <a:ext cx="3893344" cy="7929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7"/>
          <p:cNvSpPr/>
          <p:nvPr/>
        </p:nvSpPr>
        <p:spPr>
          <a:xfrm>
            <a:off x="4679156" y="2536701"/>
            <a:ext cx="35719" cy="792956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21" name="Text 18"/>
          <p:cNvSpPr/>
          <p:nvPr/>
        </p:nvSpPr>
        <p:spPr>
          <a:xfrm>
            <a:off x="4822031" y="2679576"/>
            <a:ext cx="357188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🌱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322094" y="2679576"/>
            <a:ext cx="31075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Green Procurement Rewards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5322094" y="2908176"/>
            <a:ext cx="310753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Rewards buyers for sustainable sourcing and tracks lifecycle impacts to align with ESG standards and corporate responsibility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2571750" y="3543970"/>
            <a:ext cx="4000500" cy="7929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2"/>
          <p:cNvSpPr/>
          <p:nvPr/>
        </p:nvSpPr>
        <p:spPr>
          <a:xfrm>
            <a:off x="2571750" y="3543970"/>
            <a:ext cx="35719" cy="7929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2714625" y="3686845"/>
            <a:ext cx="357188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🌐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214688" y="3686845"/>
            <a:ext cx="32146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Partnerships for Global Scale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3214688" y="3915445"/>
            <a:ext cx="32146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Designed for global scalability and operational resilience through strategic partnerships and integrated logistics networks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Conservative Year 1 Targets Show Strong Unit Economics and Network Effects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16621"/>
            <a:ext cx="3786188" cy="214312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86313" y="1591605"/>
            <a:ext cx="3786188" cy="51792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2"/>
          <p:cNvSpPr/>
          <p:nvPr/>
        </p:nvSpPr>
        <p:spPr>
          <a:xfrm>
            <a:off x="4786313" y="1591605"/>
            <a:ext cx="28575" cy="517922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7" name="Text 3"/>
          <p:cNvSpPr/>
          <p:nvPr/>
        </p:nvSpPr>
        <p:spPr>
          <a:xfrm>
            <a:off x="4893469" y="1698761"/>
            <a:ext cx="103626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Q1 Targets</a:t>
            </a:r>
            <a:endParaRPr lang="en-US" sz="680" dirty="0"/>
          </a:p>
        </p:txBody>
      </p:sp>
      <p:sp>
        <p:nvSpPr>
          <p:cNvPr id="8" name="Text 4"/>
          <p:cNvSpPr/>
          <p:nvPr/>
        </p:nvSpPr>
        <p:spPr>
          <a:xfrm>
            <a:off x="4893469" y="1873783"/>
            <a:ext cx="10362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Buyers | 1,000 Devices</a:t>
            </a:r>
            <a:endParaRPr lang="en-US" sz="628" dirty="0"/>
          </a:p>
        </p:txBody>
      </p:sp>
      <p:sp>
        <p:nvSpPr>
          <p:cNvPr id="9" name="Text 5"/>
          <p:cNvSpPr/>
          <p:nvPr/>
        </p:nvSpPr>
        <p:spPr>
          <a:xfrm>
            <a:off x="8232837" y="1754125"/>
            <a:ext cx="23250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$5K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786313" y="2216683"/>
            <a:ext cx="3786188" cy="51792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7"/>
          <p:cNvSpPr/>
          <p:nvPr/>
        </p:nvSpPr>
        <p:spPr>
          <a:xfrm>
            <a:off x="4786313" y="2216683"/>
            <a:ext cx="28575" cy="517922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12" name="Text 8"/>
          <p:cNvSpPr/>
          <p:nvPr/>
        </p:nvSpPr>
        <p:spPr>
          <a:xfrm>
            <a:off x="4893469" y="2323840"/>
            <a:ext cx="10852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Q2 Targets</a:t>
            </a:r>
            <a:endParaRPr lang="en-US" sz="680" dirty="0"/>
          </a:p>
        </p:txBody>
      </p:sp>
      <p:sp>
        <p:nvSpPr>
          <p:cNvPr id="13" name="Text 9"/>
          <p:cNvSpPr/>
          <p:nvPr/>
        </p:nvSpPr>
        <p:spPr>
          <a:xfrm>
            <a:off x="4893469" y="2498861"/>
            <a:ext cx="10852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 Buyers | 5,000 Devices</a:t>
            </a:r>
            <a:endParaRPr lang="en-US" sz="628" dirty="0"/>
          </a:p>
        </p:txBody>
      </p:sp>
      <p:sp>
        <p:nvSpPr>
          <p:cNvPr id="14" name="Text 10"/>
          <p:cNvSpPr/>
          <p:nvPr/>
        </p:nvSpPr>
        <p:spPr>
          <a:xfrm>
            <a:off x="7851149" y="2383668"/>
            <a:ext cx="3394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$25K 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8262082" y="2401528"/>
            <a:ext cx="203262" cy="17502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262082" y="2401528"/>
            <a:ext cx="203262" cy="1750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5x</a:t>
            </a:r>
            <a:endParaRPr lang="en-US" sz="575" dirty="0"/>
          </a:p>
        </p:txBody>
      </p:sp>
      <p:sp>
        <p:nvSpPr>
          <p:cNvPr id="17" name="Shape 13"/>
          <p:cNvSpPr/>
          <p:nvPr/>
        </p:nvSpPr>
        <p:spPr>
          <a:xfrm>
            <a:off x="4786313" y="2841761"/>
            <a:ext cx="3786188" cy="51792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4"/>
          <p:cNvSpPr/>
          <p:nvPr/>
        </p:nvSpPr>
        <p:spPr>
          <a:xfrm>
            <a:off x="4786313" y="2841761"/>
            <a:ext cx="28575" cy="517922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19" name="Text 15"/>
          <p:cNvSpPr/>
          <p:nvPr/>
        </p:nvSpPr>
        <p:spPr>
          <a:xfrm>
            <a:off x="4893469" y="2948918"/>
            <a:ext cx="11343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Q3 Targets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4893469" y="3123940"/>
            <a:ext cx="113432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500 Buyers | 15,000 Devices</a:t>
            </a:r>
            <a:endParaRPr lang="en-US" sz="628" dirty="0"/>
          </a:p>
        </p:txBody>
      </p:sp>
      <p:sp>
        <p:nvSpPr>
          <p:cNvPr id="21" name="Text 17"/>
          <p:cNvSpPr/>
          <p:nvPr/>
        </p:nvSpPr>
        <p:spPr>
          <a:xfrm>
            <a:off x="7851149" y="3008747"/>
            <a:ext cx="3394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$50K </a:t>
            </a:r>
            <a:endParaRPr lang="en-US" sz="942" dirty="0"/>
          </a:p>
        </p:txBody>
      </p:sp>
      <p:sp>
        <p:nvSpPr>
          <p:cNvPr id="22" name="Shape 18"/>
          <p:cNvSpPr/>
          <p:nvPr/>
        </p:nvSpPr>
        <p:spPr>
          <a:xfrm>
            <a:off x="8262082" y="3026606"/>
            <a:ext cx="203262" cy="17502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19"/>
          <p:cNvSpPr/>
          <p:nvPr/>
        </p:nvSpPr>
        <p:spPr>
          <a:xfrm>
            <a:off x="8262082" y="3026606"/>
            <a:ext cx="203262" cy="1750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2x</a:t>
            </a:r>
            <a:endParaRPr lang="en-US" sz="575" dirty="0"/>
          </a:p>
        </p:txBody>
      </p:sp>
      <p:sp>
        <p:nvSpPr>
          <p:cNvPr id="24" name="Shape 20"/>
          <p:cNvSpPr/>
          <p:nvPr/>
        </p:nvSpPr>
        <p:spPr>
          <a:xfrm>
            <a:off x="4786313" y="3466840"/>
            <a:ext cx="3786188" cy="51792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1"/>
          <p:cNvSpPr/>
          <p:nvPr/>
        </p:nvSpPr>
        <p:spPr>
          <a:xfrm>
            <a:off x="4786313" y="3466840"/>
            <a:ext cx="28575" cy="517922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26" name="Text 22"/>
          <p:cNvSpPr/>
          <p:nvPr/>
        </p:nvSpPr>
        <p:spPr>
          <a:xfrm>
            <a:off x="4893469" y="3573996"/>
            <a:ext cx="120634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Q4 Targets</a:t>
            </a:r>
            <a:endParaRPr lang="en-US" sz="680" dirty="0"/>
          </a:p>
        </p:txBody>
      </p:sp>
      <p:sp>
        <p:nvSpPr>
          <p:cNvPr id="27" name="Text 23"/>
          <p:cNvSpPr/>
          <p:nvPr/>
        </p:nvSpPr>
        <p:spPr>
          <a:xfrm>
            <a:off x="4893469" y="3749018"/>
            <a:ext cx="12063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1,000 Buyers | 20,000 Devices</a:t>
            </a:r>
            <a:endParaRPr lang="en-US" sz="628" dirty="0"/>
          </a:p>
        </p:txBody>
      </p:sp>
      <p:sp>
        <p:nvSpPr>
          <p:cNvPr id="28" name="Text 24"/>
          <p:cNvSpPr/>
          <p:nvPr/>
        </p:nvSpPr>
        <p:spPr>
          <a:xfrm>
            <a:off x="7777618" y="3633825"/>
            <a:ext cx="4130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$100K </a:t>
            </a:r>
            <a:endParaRPr lang="en-US" sz="942" dirty="0"/>
          </a:p>
        </p:txBody>
      </p:sp>
      <p:sp>
        <p:nvSpPr>
          <p:cNvPr id="29" name="Shape 25"/>
          <p:cNvSpPr/>
          <p:nvPr/>
        </p:nvSpPr>
        <p:spPr>
          <a:xfrm>
            <a:off x="8262082" y="3651684"/>
            <a:ext cx="203262" cy="17502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6"/>
          <p:cNvSpPr/>
          <p:nvPr/>
        </p:nvSpPr>
        <p:spPr>
          <a:xfrm>
            <a:off x="8262082" y="3651684"/>
            <a:ext cx="203262" cy="1750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2x</a:t>
            </a:r>
            <a:endParaRPr lang="en-US" sz="575" dirty="0"/>
          </a:p>
        </p:txBody>
      </p:sp>
      <p:sp>
        <p:nvSpPr>
          <p:cNvPr id="31" name="Text 27"/>
          <p:cNvSpPr/>
          <p:nvPr/>
        </p:nvSpPr>
        <p:spPr>
          <a:xfrm>
            <a:off x="571500" y="4436269"/>
            <a:ext cx="8001000" cy="278606"/>
          </a:xfrm>
          <a:prstGeom prst="rect">
            <a:avLst/>
          </a:prstGeom>
          <a:noFill/>
          <a:ln/>
        </p:spPr>
        <p:txBody>
          <a:bodyPr wrap="square" lIns="0" tIns="170053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Unit Economics: $5 per device sourced | Subscription revenue: $49+/month | Network effects drive exponential growth trajectory </a:t>
            </a:r>
            <a:endParaRPr lang="en-US" sz="62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Lean, Agile Team with Deep Expertise in Global Trade and Technology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183016"/>
            <a:ext cx="2524116" cy="2378869"/>
          </a:xfrm>
          <a:prstGeom prst="rect">
            <a:avLst/>
          </a:prstGeom>
          <a:solidFill>
            <a:srgbClr val="F8F9FA"/>
          </a:solidFill>
          <a:ln w="397">
            <a:solidFill>
              <a:srgbClr val="FF6B3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47794" y="1397329"/>
            <a:ext cx="571500" cy="571500"/>
          </a:xfrm>
          <a:prstGeom prst="ellipse">
            <a:avLst/>
          </a:prstGeom>
          <a:solidFill>
            <a:srgbClr val="0099CC"/>
          </a:solidFill>
          <a:ln/>
        </p:spPr>
      </p:sp>
      <p:sp>
        <p:nvSpPr>
          <p:cNvPr id="6" name="Text 3"/>
          <p:cNvSpPr/>
          <p:nvPr/>
        </p:nvSpPr>
        <p:spPr>
          <a:xfrm>
            <a:off x="1547794" y="139732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85813" y="2075985"/>
            <a:ext cx="20954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Rubab Hassan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85813" y="2376022"/>
            <a:ext cx="20954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Founder &amp; Sales Strategist</a:t>
            </a:r>
            <a:endParaRPr lang="en-US" sz="732" dirty="0"/>
          </a:p>
        </p:txBody>
      </p:sp>
      <p:sp>
        <p:nvSpPr>
          <p:cNvPr id="9" name="Text 6"/>
          <p:cNvSpPr/>
          <p:nvPr/>
        </p:nvSpPr>
        <p:spPr>
          <a:xfrm>
            <a:off x="785813" y="2633197"/>
            <a:ext cx="20954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trade expertise</a:t>
            </a:r>
            <a:endParaRPr lang="en-US" sz="628" dirty="0"/>
          </a:p>
        </p:txBody>
      </p:sp>
      <p:sp>
        <p:nvSpPr>
          <p:cNvPr id="10" name="Text 7"/>
          <p:cNvSpPr/>
          <p:nvPr/>
        </p:nvSpPr>
        <p:spPr>
          <a:xfrm>
            <a:off x="785813" y="2804647"/>
            <a:ext cx="20954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sourcing strategy</a:t>
            </a:r>
            <a:endParaRPr lang="en-US" sz="628" dirty="0"/>
          </a:p>
        </p:txBody>
      </p:sp>
      <p:sp>
        <p:nvSpPr>
          <p:cNvPr id="11" name="Text 8"/>
          <p:cNvSpPr/>
          <p:nvPr/>
        </p:nvSpPr>
        <p:spPr>
          <a:xfrm>
            <a:off x="785813" y="2976097"/>
            <a:ext cx="20954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 development</a:t>
            </a:r>
            <a:endParaRPr lang="en-US" sz="628" dirty="0"/>
          </a:p>
        </p:txBody>
      </p:sp>
      <p:sp>
        <p:nvSpPr>
          <p:cNvPr id="12" name="Text 9"/>
          <p:cNvSpPr/>
          <p:nvPr/>
        </p:nvSpPr>
        <p:spPr>
          <a:xfrm>
            <a:off x="785813" y="3147547"/>
            <a:ext cx="20954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Vendor relationships</a:t>
            </a:r>
            <a:endParaRPr lang="en-US" sz="628" dirty="0"/>
          </a:p>
        </p:txBody>
      </p:sp>
      <p:sp>
        <p:nvSpPr>
          <p:cNvPr id="13" name="Shape 10"/>
          <p:cNvSpPr/>
          <p:nvPr/>
        </p:nvSpPr>
        <p:spPr>
          <a:xfrm>
            <a:off x="3309928" y="1183016"/>
            <a:ext cx="2524116" cy="2378869"/>
          </a:xfrm>
          <a:prstGeom prst="rect">
            <a:avLst/>
          </a:prstGeom>
          <a:solidFill>
            <a:srgbClr val="F8F9FA"/>
          </a:solidFill>
          <a:ln w="397">
            <a:solidFill>
              <a:srgbClr val="0099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86222" y="1397329"/>
            <a:ext cx="571500" cy="571500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15" name="Text 12"/>
          <p:cNvSpPr/>
          <p:nvPr/>
        </p:nvSpPr>
        <p:spPr>
          <a:xfrm>
            <a:off x="4286222" y="139732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HJ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524241" y="2075985"/>
            <a:ext cx="20954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Hassan Jawad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524241" y="2376022"/>
            <a:ext cx="20954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Operations &amp; Fulfillment</a:t>
            </a:r>
            <a:endParaRPr lang="en-US" sz="732" dirty="0"/>
          </a:p>
        </p:txBody>
      </p:sp>
      <p:sp>
        <p:nvSpPr>
          <p:cNvPr id="18" name="Text 15"/>
          <p:cNvSpPr/>
          <p:nvPr/>
        </p:nvSpPr>
        <p:spPr>
          <a:xfrm>
            <a:off x="3524241" y="2633197"/>
            <a:ext cx="20954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Logistics optimization</a:t>
            </a:r>
            <a:endParaRPr lang="en-US" sz="628" dirty="0"/>
          </a:p>
        </p:txBody>
      </p:sp>
      <p:sp>
        <p:nvSpPr>
          <p:cNvPr id="19" name="Text 16"/>
          <p:cNvSpPr/>
          <p:nvPr/>
        </p:nvSpPr>
        <p:spPr>
          <a:xfrm>
            <a:off x="3524241" y="2804647"/>
            <a:ext cx="20954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architecture</a:t>
            </a:r>
            <a:endParaRPr lang="en-US" sz="628" dirty="0"/>
          </a:p>
        </p:txBody>
      </p:sp>
      <p:sp>
        <p:nvSpPr>
          <p:cNvPr id="20" name="Text 17"/>
          <p:cNvSpPr/>
          <p:nvPr/>
        </p:nvSpPr>
        <p:spPr>
          <a:xfrm>
            <a:off x="3524241" y="2976097"/>
            <a:ext cx="20954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Hands-on execution</a:t>
            </a:r>
            <a:endParaRPr lang="en-US" sz="628" dirty="0"/>
          </a:p>
        </p:txBody>
      </p:sp>
      <p:sp>
        <p:nvSpPr>
          <p:cNvPr id="21" name="Text 18"/>
          <p:cNvSpPr/>
          <p:nvPr/>
        </p:nvSpPr>
        <p:spPr>
          <a:xfrm>
            <a:off x="3524241" y="3147547"/>
            <a:ext cx="20954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scalability</a:t>
            </a:r>
            <a:endParaRPr lang="en-US" sz="628" dirty="0"/>
          </a:p>
        </p:txBody>
      </p:sp>
      <p:sp>
        <p:nvSpPr>
          <p:cNvPr id="22" name="Shape 19"/>
          <p:cNvSpPr/>
          <p:nvPr/>
        </p:nvSpPr>
        <p:spPr>
          <a:xfrm>
            <a:off x="6048356" y="1183016"/>
            <a:ext cx="2524144" cy="2378869"/>
          </a:xfrm>
          <a:prstGeom prst="rect">
            <a:avLst/>
          </a:prstGeom>
          <a:solidFill>
            <a:srgbClr val="F8F9FA"/>
          </a:solidFill>
          <a:ln w="397">
            <a:solidFill>
              <a:srgbClr val="FF6B3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24678" y="1411616"/>
            <a:ext cx="571500" cy="571500"/>
          </a:xfrm>
          <a:prstGeom prst="ellipse">
            <a:avLst/>
          </a:prstGeom>
          <a:solidFill>
            <a:srgbClr val="0099CC"/>
          </a:solidFill>
          <a:ln/>
        </p:spPr>
      </p:sp>
      <p:sp>
        <p:nvSpPr>
          <p:cNvPr id="24" name="Text 21"/>
          <p:cNvSpPr/>
          <p:nvPr/>
        </p:nvSpPr>
        <p:spPr>
          <a:xfrm>
            <a:off x="7024678" y="1411616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🛠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262669" y="2090272"/>
            <a:ext cx="20955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Development Agency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262669" y="2390310"/>
            <a:ext cx="2095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Shopify-Certified Partner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6262669" y="2647485"/>
            <a:ext cx="2095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CRM tools</a:t>
            </a:r>
            <a:endParaRPr lang="en-US" sz="628" dirty="0"/>
          </a:p>
        </p:txBody>
      </p:sp>
      <p:sp>
        <p:nvSpPr>
          <p:cNvPr id="28" name="Text 25"/>
          <p:cNvSpPr/>
          <p:nvPr/>
        </p:nvSpPr>
        <p:spPr>
          <a:xfrm>
            <a:off x="6262669" y="2818935"/>
            <a:ext cx="2095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AI-driven features</a:t>
            </a:r>
            <a:endParaRPr lang="en-US" sz="628" dirty="0"/>
          </a:p>
        </p:txBody>
      </p:sp>
      <p:sp>
        <p:nvSpPr>
          <p:cNvPr id="29" name="Text 26"/>
          <p:cNvSpPr/>
          <p:nvPr/>
        </p:nvSpPr>
        <p:spPr>
          <a:xfrm>
            <a:off x="6262669" y="2990385"/>
            <a:ext cx="2095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shopping agents</a:t>
            </a:r>
            <a:endParaRPr lang="en-US" sz="628" dirty="0"/>
          </a:p>
        </p:txBody>
      </p:sp>
      <p:sp>
        <p:nvSpPr>
          <p:cNvPr id="30" name="Text 27"/>
          <p:cNvSpPr/>
          <p:nvPr/>
        </p:nvSpPr>
        <p:spPr>
          <a:xfrm>
            <a:off x="6262669" y="3161835"/>
            <a:ext cx="2095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eCommerce integration</a:t>
            </a:r>
            <a:endParaRPr lang="en-US" sz="628" dirty="0"/>
          </a:p>
        </p:txBody>
      </p:sp>
      <p:sp>
        <p:nvSpPr>
          <p:cNvPr id="31" name="Shape 28"/>
          <p:cNvSpPr/>
          <p:nvPr/>
        </p:nvSpPr>
        <p:spPr>
          <a:xfrm>
            <a:off x="571500" y="3924821"/>
            <a:ext cx="8001000" cy="79005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2" name="Shape 29"/>
          <p:cNvSpPr/>
          <p:nvPr/>
        </p:nvSpPr>
        <p:spPr>
          <a:xfrm>
            <a:off x="571500" y="3924821"/>
            <a:ext cx="28575" cy="79005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0"/>
          <p:cNvSpPr/>
          <p:nvPr/>
        </p:nvSpPr>
        <p:spPr>
          <a:xfrm>
            <a:off x="750094" y="4067696"/>
            <a:ext cx="76438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 Structure &amp; Approach</a:t>
            </a:r>
            <a:endParaRPr lang="en-US" sz="732" dirty="0"/>
          </a:p>
        </p:txBody>
      </p:sp>
      <p:sp>
        <p:nvSpPr>
          <p:cNvPr id="34" name="Text 31"/>
          <p:cNvSpPr/>
          <p:nvPr/>
        </p:nvSpPr>
        <p:spPr>
          <a:xfrm>
            <a:off x="750094" y="4274865"/>
            <a:ext cx="764381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Compact, agile team structure enables quick innovation and precision response to buyer and supplier needs. Combination of strategic vision, operational excellence, and cutting-edge technology ensures lean yet powerful execution in a rapidly evolving market.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DeliWer Seeks Technology and Investment Partners to Amplify Impact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768413"/>
            <a:ext cx="3786188" cy="7608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68413"/>
            <a:ext cx="28575" cy="76080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911288"/>
            <a:ext cx="321469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💰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1143000" y="1911288"/>
            <a:ext cx="307181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Revenue-Sharing Models</a:t>
            </a:r>
            <a:endParaRPr lang="en-US" sz="785" dirty="0"/>
          </a:p>
        </p:txBody>
      </p:sp>
      <p:sp>
        <p:nvSpPr>
          <p:cNvPr id="8" name="Text 5"/>
          <p:cNvSpPr/>
          <p:nvPr/>
        </p:nvSpPr>
        <p:spPr>
          <a:xfrm>
            <a:off x="1143000" y="2107741"/>
            <a:ext cx="30718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Structured partnerships aligned with long-term incentives and mutual growth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571500" y="2672097"/>
            <a:ext cx="3786188" cy="7608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672097"/>
            <a:ext cx="28575" cy="760809"/>
          </a:xfrm>
          <a:prstGeom prst="rect">
            <a:avLst/>
          </a:prstGeom>
          <a:solidFill>
            <a:srgbClr val="0099CC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2814972"/>
            <a:ext cx="321469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🤝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143000" y="2814972"/>
            <a:ext cx="307181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Sweat Equity Arrangements</a:t>
            </a:r>
            <a:endParaRPr lang="en-US" sz="785" dirty="0"/>
          </a:p>
        </p:txBody>
      </p:sp>
      <p:sp>
        <p:nvSpPr>
          <p:cNvPr id="13" name="Text 10"/>
          <p:cNvSpPr/>
          <p:nvPr/>
        </p:nvSpPr>
        <p:spPr>
          <a:xfrm>
            <a:off x="1143000" y="3011425"/>
            <a:ext cx="30718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Collaborate on platform development and operations with equity participation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571500" y="3575782"/>
            <a:ext cx="3786188" cy="76080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575782"/>
            <a:ext cx="28575" cy="76080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3718657"/>
            <a:ext cx="321469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🔧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143000" y="3718657"/>
            <a:ext cx="307181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Expertise</a:t>
            </a:r>
            <a:endParaRPr lang="en-US" sz="785" dirty="0"/>
          </a:p>
        </p:txBody>
      </p:sp>
      <p:sp>
        <p:nvSpPr>
          <p:cNvPr id="18" name="Text 15"/>
          <p:cNvSpPr/>
          <p:nvPr/>
        </p:nvSpPr>
        <p:spPr>
          <a:xfrm>
            <a:off x="1143000" y="3915110"/>
            <a:ext cx="30718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AI/CRM enhancement, B2B platforms, live commerce, and eCommerce tech specialists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4786313" y="1568053"/>
            <a:ext cx="3786188" cy="1504429"/>
          </a:xfrm>
          <a:prstGeom prst="rect">
            <a:avLst/>
          </a:prstGeom>
          <a:solidFill>
            <a:srgbClr val="F8F9FA"/>
          </a:solidFill>
          <a:ln w="397">
            <a:solidFill>
              <a:srgbClr val="0099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64906" y="1760934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Immediate Engagement Options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4964906" y="2039541"/>
            <a:ext cx="342900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Live platform access via hosted PWA prototype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4964906" y="2263843"/>
            <a:ext cx="342900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Shopify-integrated auction hub for testing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4964906" y="2488146"/>
            <a:ext cx="342900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Direct validation of product-market fit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4964906" y="2712448"/>
            <a:ext cx="342900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Real-time collaboration opportunities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4786313" y="3272507"/>
            <a:ext cx="3786188" cy="1250156"/>
          </a:xfrm>
          <a:prstGeom prst="rect">
            <a:avLst/>
          </a:prstGeom>
          <a:solidFill>
            <a:srgbClr val="FFF5F0"/>
          </a:solidFill>
          <a:ln/>
        </p:spPr>
      </p:sp>
      <p:sp>
        <p:nvSpPr>
          <p:cNvPr id="26" name="Shape 23"/>
          <p:cNvSpPr/>
          <p:nvPr/>
        </p:nvSpPr>
        <p:spPr>
          <a:xfrm>
            <a:off x="4786313" y="3272507"/>
            <a:ext cx="35719" cy="12501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4"/>
          <p:cNvSpPr/>
          <p:nvPr/>
        </p:nvSpPr>
        <p:spPr>
          <a:xfrm>
            <a:off x="4964906" y="3451101"/>
            <a:ext cx="34290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Contact</a:t>
            </a:r>
            <a:endParaRPr lang="en-US" sz="628" dirty="0"/>
          </a:p>
        </p:txBody>
      </p:sp>
      <p:sp>
        <p:nvSpPr>
          <p:cNvPr id="28" name="Text 25"/>
          <p:cNvSpPr/>
          <p:nvPr/>
        </p:nvSpPr>
        <p:spPr>
          <a:xfrm>
            <a:off x="4964906" y="3651126"/>
            <a:ext cx="3429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Hassan Jawad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4964906" y="3929732"/>
            <a:ext cx="3429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+971 50 944 6936</a:t>
            </a:r>
            <a:endParaRPr lang="en-US" sz="732" dirty="0"/>
          </a:p>
        </p:txBody>
      </p:sp>
      <p:sp>
        <p:nvSpPr>
          <p:cNvPr id="30" name="Text 27"/>
          <p:cNvSpPr/>
          <p:nvPr/>
        </p:nvSpPr>
        <p:spPr>
          <a:xfrm>
            <a:off x="4964906" y="4136901"/>
            <a:ext cx="3429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0099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formatix@deliwer.com</a:t>
            </a:r>
            <a:endParaRPr lang="en-US" sz="73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63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00875" y="-714375"/>
            <a:ext cx="2857500" cy="2857500"/>
          </a:xfrm>
          <a:prstGeom prst="ellipse">
            <a:avLst/>
          </a:prstGeom>
          <a:solidFill>
            <a:srgbClr val="FF6B35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-571500" y="3654698"/>
            <a:ext cx="2143125" cy="2143125"/>
          </a:xfrm>
          <a:prstGeom prst="ellipse">
            <a:avLst/>
          </a:prstGeom>
          <a:solidFill>
            <a:srgbClr val="0099CC">
              <a:alpha val="1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767018" y="416123"/>
            <a:ext cx="5609965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150" b="1" spc="-1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Future of B2B Electronics 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594158" y="936166"/>
            <a:ext cx="1787947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150" b="1" spc="-1" kern="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Sourcing 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4382105" y="936166"/>
            <a:ext cx="216771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150" b="1" spc="-1" kern="0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Starts Here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2071688" y="1754460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dirty="0">
                <a:solidFill>
                  <a:srgbClr val="E8F0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DeliWer is transforming global supply chains through transparency, efficiency, and innovation in refurbished electronics sourcing.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964656" y="2640285"/>
            <a:ext cx="35718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🔍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768147" y="3154635"/>
            <a:ext cx="7501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Transparency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2643188" y="3411810"/>
            <a:ext cx="1000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B8D4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price visibility and verified supplier networks</a:t>
            </a:r>
            <a:endParaRPr lang="en-US" sz="628" dirty="0"/>
          </a:p>
        </p:txBody>
      </p:sp>
      <p:sp>
        <p:nvSpPr>
          <p:cNvPr id="12" name="Text 9"/>
          <p:cNvSpPr/>
          <p:nvPr/>
        </p:nvSpPr>
        <p:spPr>
          <a:xfrm>
            <a:off x="4393406" y="2640285"/>
            <a:ext cx="35718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⚡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4306481" y="3154635"/>
            <a:ext cx="5310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Efficiency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4071938" y="3411810"/>
            <a:ext cx="1000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B8D4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Streamlined reverse auction process and instant fulfillment</a:t>
            </a:r>
            <a:endParaRPr lang="en-US" sz="628" dirty="0"/>
          </a:p>
        </p:txBody>
      </p:sp>
      <p:sp>
        <p:nvSpPr>
          <p:cNvPr id="15" name="Text 12"/>
          <p:cNvSpPr/>
          <p:nvPr/>
        </p:nvSpPr>
        <p:spPr>
          <a:xfrm>
            <a:off x="5822156" y="2640285"/>
            <a:ext cx="35718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💡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5696080" y="3154635"/>
            <a:ext cx="6093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Innovation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5500688" y="3411810"/>
            <a:ext cx="1000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B8D4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matching and smart live inspection technology</a:t>
            </a:r>
            <a:endParaRPr lang="en-US" sz="628" dirty="0"/>
          </a:p>
        </p:txBody>
      </p:sp>
      <p:sp>
        <p:nvSpPr>
          <p:cNvPr id="18" name="Text 15"/>
          <p:cNvSpPr/>
          <p:nvPr/>
        </p:nvSpPr>
        <p:spPr>
          <a:xfrm>
            <a:off x="3494187" y="4369073"/>
            <a:ext cx="215557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B8D4E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Ready to transform your electronics sourcing?</a:t>
            </a:r>
            <a:endParaRPr lang="en-US" sz="732" dirty="0"/>
          </a:p>
        </p:txBody>
      </p:sp>
      <p:sp>
        <p:nvSpPr>
          <p:cNvPr id="19" name="Text 16"/>
          <p:cNvSpPr/>
          <p:nvPr/>
        </p:nvSpPr>
        <p:spPr>
          <a:xfrm>
            <a:off x="2734215" y="4626248"/>
            <a:ext cx="367554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spc="1" kern="0" dirty="0">
                <a:solidFill>
                  <a:srgbClr val="FF6B3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VISIT: www.deliwer.com | CONTACT: formatix@deliwer.com</a:t>
            </a:r>
            <a:endParaRPr lang="en-US" sz="83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2025-10-24T14:20:27Z</dcterms:created>
  <dcterms:modified xsi:type="dcterms:W3CDTF">2025-10-24T14:20:27Z</dcterms:modified>
</cp:coreProperties>
</file>